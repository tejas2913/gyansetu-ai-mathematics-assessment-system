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algn="l" indent="0" marL="0">
              <a:buNone/>
            </a:pPr>
            <a:r>
              <a:rPr lang="en-US" sz="900" b="1" spc="300" kern="0" dirty="0">
                <a:solidFill>
                  <a:srgbClr val="1A8FBF"/>
                </a:solidFill>
              </a:rPr>
              <a:t>TECHNICAL CHALLENGE SUBMISSION</a:t>
            </a:r>
            <a:endParaRPr lang="en-US" sz="900" dirty="0"/>
          </a:p>
        </p:txBody>
      </p:sp>
      <p:sp>
        <p:nvSpPr>
          <p:cNvPr id="3" name="Text 1"/>
          <p:cNvSpPr/>
          <p:nvPr/>
        </p:nvSpPr>
        <p:spPr>
          <a:xfrm>
            <a:off x="457200" y="594360"/>
            <a:ext cx="8229600" cy="77724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GyanSetu</a:t>
            </a:r>
            <a:endParaRPr lang="en-US" sz="4400" dirty="0"/>
          </a:p>
        </p:txBody>
      </p:sp>
      <p:sp>
        <p:nvSpPr>
          <p:cNvPr id="4" name="Text 2"/>
          <p:cNvSpPr/>
          <p:nvPr/>
        </p:nvSpPr>
        <p:spPr>
          <a:xfrm>
            <a:off x="457200" y="1316736"/>
            <a:ext cx="8229600" cy="411480"/>
          </a:xfrm>
          <a:prstGeom prst="rect">
            <a:avLst/>
          </a:prstGeom>
          <a:noFill/>
          <a:ln/>
        </p:spPr>
        <p:txBody>
          <a:bodyPr wrap="square" lIns="0" tIns="0" rIns="0" bIns="0" rtlCol="0" anchor="ctr"/>
          <a:lstStyle/>
          <a:p>
            <a:pPr algn="l" indent="0" marL="0">
              <a:buNone/>
            </a:pPr>
            <a:r>
              <a:rPr lang="en-US" sz="1600" dirty="0">
                <a:solidFill>
                  <a:srgbClr val="90A4B7"/>
                </a:solidFill>
                <a:latin typeface="Calibri" pitchFamily="34" charset="0"/>
                <a:ea typeface="Calibri" pitchFamily="34" charset="-122"/>
                <a:cs typeface="Calibri" pitchFamily="34" charset="-120"/>
              </a:rPr>
              <a:t>AI-Powered Mathematics Assessment &amp; Feedback System</a:t>
            </a:r>
            <a:endParaRPr lang="en-US" sz="1600" dirty="0"/>
          </a:p>
        </p:txBody>
      </p:sp>
      <p:sp>
        <p:nvSpPr>
          <p:cNvPr id="5" name="Shape 3"/>
          <p:cNvSpPr/>
          <p:nvPr/>
        </p:nvSpPr>
        <p:spPr>
          <a:xfrm>
            <a:off x="457200" y="1920240"/>
            <a:ext cx="3931920" cy="2697480"/>
          </a:xfrm>
          <a:prstGeom prst="roundRect">
            <a:avLst>
              <a:gd name="adj" fmla="val 4068"/>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2029968"/>
            <a:ext cx="3566160" cy="320040"/>
          </a:xfrm>
          <a:prstGeom prst="rect">
            <a:avLst/>
          </a:prstGeom>
          <a:noFill/>
          <a:ln/>
        </p:spPr>
        <p:txBody>
          <a:bodyPr wrap="square" lIns="0" tIns="0" rIns="0" bIns="0" rtlCol="0" anchor="ctr"/>
          <a:lstStyle/>
          <a:p>
            <a:pPr algn="l" indent="0" marL="0">
              <a:buNone/>
            </a:pPr>
            <a:r>
              <a:rPr lang="en-US" sz="1300" b="1" dirty="0">
                <a:solidFill>
                  <a:srgbClr val="1A8FBF"/>
                </a:solidFill>
                <a:latin typeface="Calibri" pitchFamily="34" charset="0"/>
                <a:ea typeface="Calibri" pitchFamily="34" charset="-122"/>
                <a:cs typeface="Calibri" pitchFamily="34" charset="-120"/>
              </a:rPr>
              <a:t>Problem Statement</a:t>
            </a:r>
            <a:endParaRPr lang="en-US" sz="1300" dirty="0"/>
          </a:p>
        </p:txBody>
      </p:sp>
      <p:sp>
        <p:nvSpPr>
          <p:cNvPr id="7" name="Text 5"/>
          <p:cNvSpPr/>
          <p:nvPr/>
        </p:nvSpPr>
        <p:spPr>
          <a:xfrm>
            <a:off x="640080" y="2404872"/>
            <a:ext cx="3566160" cy="20116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Conventional Class 10 mathematics assessments offer delayed, generic feedback. Teachers lack tools to identify individual weak areas at scale. Students receive no structured guidance on where reasoning breaks down or how to improve.</a:t>
            </a:r>
            <a:endParaRPr lang="en-US" sz="1250" dirty="0"/>
          </a:p>
        </p:txBody>
      </p:sp>
      <p:sp>
        <p:nvSpPr>
          <p:cNvPr id="8" name="Shape 6"/>
          <p:cNvSpPr/>
          <p:nvPr/>
        </p:nvSpPr>
        <p:spPr>
          <a:xfrm>
            <a:off x="4754880" y="1920240"/>
            <a:ext cx="3931920" cy="2697480"/>
          </a:xfrm>
          <a:prstGeom prst="roundRect">
            <a:avLst>
              <a:gd name="adj" fmla="val 4068"/>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937760" y="2029968"/>
            <a:ext cx="3566160" cy="320040"/>
          </a:xfrm>
          <a:prstGeom prst="rect">
            <a:avLst/>
          </a:prstGeom>
          <a:noFill/>
          <a:ln/>
        </p:spPr>
        <p:txBody>
          <a:bodyPr wrap="square" lIns="0" tIns="0" rIns="0" bIns="0" rtlCol="0" anchor="ctr"/>
          <a:lstStyle/>
          <a:p>
            <a:pPr algn="l" indent="0" marL="0">
              <a:buNone/>
            </a:pPr>
            <a:r>
              <a:rPr lang="en-US" sz="1300" b="1" dirty="0">
                <a:solidFill>
                  <a:srgbClr val="1A8FBF"/>
                </a:solidFill>
                <a:latin typeface="Calibri" pitchFamily="34" charset="0"/>
                <a:ea typeface="Calibri" pitchFamily="34" charset="-122"/>
                <a:cs typeface="Calibri" pitchFamily="34" charset="-120"/>
              </a:rPr>
              <a:t>Project Objective</a:t>
            </a:r>
            <a:endParaRPr lang="en-US" sz="1300" dirty="0"/>
          </a:p>
        </p:txBody>
      </p:sp>
      <p:sp>
        <p:nvSpPr>
          <p:cNvPr id="10" name="Text 8"/>
          <p:cNvSpPr/>
          <p:nvPr/>
        </p:nvSpPr>
        <p:spPr>
          <a:xfrm>
            <a:off x="4937760" y="2404872"/>
            <a:ext cx="3566160" cy="2011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Evaluate student answers with step-wise rubric grading</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Support typed, handwritten, and voice input modes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Identify weak topics through performance analytics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Generate targeted reports for students, teachers, and parents</a:t>
            </a:r>
            <a:endParaRPr lang="en-US" sz="1200" dirty="0"/>
          </a:p>
        </p:txBody>
      </p:sp>
      <p:sp>
        <p:nvSpPr>
          <p:cNvPr id="11" name="Text 9"/>
          <p:cNvSpPr/>
          <p:nvPr/>
        </p:nvSpPr>
        <p:spPr>
          <a:xfrm>
            <a:off x="8229600" y="4754880"/>
            <a:ext cx="640080" cy="228600"/>
          </a:xfrm>
          <a:prstGeom prst="rect">
            <a:avLst/>
          </a:prstGeom>
          <a:noFill/>
          <a:ln/>
        </p:spPr>
        <p:txBody>
          <a:bodyPr wrap="square" lIns="0" tIns="0" rIns="0" bIns="0" rtlCol="0" anchor="ctr"/>
          <a:lstStyle/>
          <a:p>
            <a:pPr algn="r" indent="0" marL="0">
              <a:buNone/>
            </a:pPr>
            <a:r>
              <a:rPr lang="en-US" sz="900" dirty="0">
                <a:solidFill>
                  <a:srgbClr val="90A4B7"/>
                </a:solidFill>
              </a:rPr>
              <a:t>1 / 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algn="l" indent="0" marL="0">
              <a:buNone/>
            </a:pPr>
            <a:r>
              <a:rPr lang="en-US" sz="900" b="1" spc="300" kern="0" dirty="0">
                <a:solidFill>
                  <a:srgbClr val="1A8FBF"/>
                </a:solidFill>
              </a:rPr>
              <a:t>SYSTEM ARCHITECTURE &amp; TECHNOLOGY STACK</a:t>
            </a:r>
            <a:endParaRPr lang="en-US" sz="900" dirty="0"/>
          </a:p>
        </p:txBody>
      </p:sp>
      <p:sp>
        <p:nvSpPr>
          <p:cNvPr id="3" name="Text 1"/>
          <p:cNvSpPr/>
          <p:nvPr/>
        </p:nvSpPr>
        <p:spPr>
          <a:xfrm>
            <a:off x="457200" y="548640"/>
            <a:ext cx="8229600" cy="411480"/>
          </a:xfrm>
          <a:prstGeom prst="rect">
            <a:avLst/>
          </a:prstGeom>
          <a:noFill/>
          <a:ln/>
        </p:spPr>
        <p:txBody>
          <a:bodyPr wrap="square" lIns="0" tIns="0" rIns="0" bIns="0" rtlCol="0" anchor="ctr"/>
          <a:lstStyle/>
          <a:p>
            <a:pPr algn="l" indent="0" marL="0">
              <a:buNone/>
            </a:pPr>
            <a:r>
              <a:rPr lang="en-US" sz="2200" b="1" dirty="0">
                <a:solidFill>
                  <a:srgbClr val="0D1B2A"/>
                </a:solidFill>
                <a:latin typeface="Cambria" pitchFamily="34" charset="0"/>
                <a:ea typeface="Cambria" pitchFamily="34" charset="-122"/>
                <a:cs typeface="Cambria" pitchFamily="34" charset="-120"/>
              </a:rPr>
              <a:t>Design &amp; Implementation Overview</a:t>
            </a:r>
            <a:endParaRPr lang="en-US" sz="2200" dirty="0"/>
          </a:p>
        </p:txBody>
      </p:sp>
      <p:sp>
        <p:nvSpPr>
          <p:cNvPr id="4" name="Shape 2"/>
          <p:cNvSpPr/>
          <p:nvPr/>
        </p:nvSpPr>
        <p:spPr>
          <a:xfrm>
            <a:off x="457200" y="1143000"/>
            <a:ext cx="4937760" cy="658368"/>
          </a:xfrm>
          <a:prstGeom prst="roundRect">
            <a:avLst>
              <a:gd name="adj" fmla="val 13889"/>
            </a:avLst>
          </a:prstGeom>
          <a:solidFill>
            <a:srgbClr val="0D1B2A"/>
          </a:solidFill>
          <a:ln w="6350">
            <a:solidFill>
              <a:srgbClr val="1A8FBF"/>
            </a:solidFill>
            <a:prstDash val="solid"/>
          </a:ln>
        </p:spPr>
      </p:sp>
      <p:sp>
        <p:nvSpPr>
          <p:cNvPr id="5" name="Text 3"/>
          <p:cNvSpPr/>
          <p:nvPr/>
        </p:nvSpPr>
        <p:spPr>
          <a:xfrm>
            <a:off x="640080" y="1197864"/>
            <a:ext cx="1371600" cy="256032"/>
          </a:xfrm>
          <a:prstGeom prst="rect">
            <a:avLst/>
          </a:prstGeom>
          <a:noFill/>
          <a:ln/>
        </p:spPr>
        <p:txBody>
          <a:bodyPr wrap="square" lIns="0" tIns="0" rIns="0" bIns="0" rtlCol="0" anchor="ctr"/>
          <a:lstStyle/>
          <a:p>
            <a:pPr indent="0" marL="0">
              <a:buNone/>
            </a:pPr>
            <a:r>
              <a:rPr lang="en-US" sz="1100" b="1" dirty="0">
                <a:solidFill>
                  <a:srgbClr val="1A8FBF"/>
                </a:solidFill>
                <a:latin typeface="Calibri" pitchFamily="34" charset="0"/>
                <a:ea typeface="Calibri" pitchFamily="34" charset="-122"/>
                <a:cs typeface="Calibri" pitchFamily="34" charset="-120"/>
              </a:rPr>
              <a:t>Client Layer</a:t>
            </a:r>
            <a:endParaRPr lang="en-US" sz="1100" dirty="0"/>
          </a:p>
        </p:txBody>
      </p:sp>
      <p:sp>
        <p:nvSpPr>
          <p:cNvPr id="6" name="Text 4"/>
          <p:cNvSpPr/>
          <p:nvPr/>
        </p:nvSpPr>
        <p:spPr>
          <a:xfrm>
            <a:off x="640080" y="1444752"/>
            <a:ext cx="457200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React + Vite + Tailwind CSS</a:t>
            </a:r>
            <a:endParaRPr lang="en-US" sz="1100" dirty="0"/>
          </a:p>
        </p:txBody>
      </p:sp>
      <p:sp>
        <p:nvSpPr>
          <p:cNvPr id="7" name="Shape 5"/>
          <p:cNvSpPr/>
          <p:nvPr/>
        </p:nvSpPr>
        <p:spPr>
          <a:xfrm>
            <a:off x="2743200" y="1801368"/>
            <a:ext cx="0" cy="237744"/>
          </a:xfrm>
          <a:prstGeom prst="line">
            <a:avLst/>
          </a:prstGeom>
          <a:noFill/>
          <a:ln w="19050">
            <a:solidFill>
              <a:srgbClr val="1A8FBF"/>
            </a:solidFill>
            <a:prstDash val="solid"/>
          </a:ln>
        </p:spPr>
      </p:sp>
      <p:sp>
        <p:nvSpPr>
          <p:cNvPr id="8" name="Shape 6"/>
          <p:cNvSpPr/>
          <p:nvPr/>
        </p:nvSpPr>
        <p:spPr>
          <a:xfrm>
            <a:off x="457200" y="1920240"/>
            <a:ext cx="4937760" cy="658368"/>
          </a:xfrm>
          <a:prstGeom prst="roundRect">
            <a:avLst>
              <a:gd name="adj" fmla="val 13889"/>
            </a:avLst>
          </a:prstGeom>
          <a:solidFill>
            <a:srgbClr val="1B3A5C"/>
          </a:solidFill>
          <a:ln w="6350">
            <a:solidFill>
              <a:srgbClr val="1A8FBF"/>
            </a:solidFill>
            <a:prstDash val="solid"/>
          </a:ln>
        </p:spPr>
      </p:sp>
      <p:sp>
        <p:nvSpPr>
          <p:cNvPr id="9" name="Text 7"/>
          <p:cNvSpPr/>
          <p:nvPr/>
        </p:nvSpPr>
        <p:spPr>
          <a:xfrm>
            <a:off x="640080" y="1975104"/>
            <a:ext cx="1371600" cy="256032"/>
          </a:xfrm>
          <a:prstGeom prst="rect">
            <a:avLst/>
          </a:prstGeom>
          <a:noFill/>
          <a:ln/>
        </p:spPr>
        <p:txBody>
          <a:bodyPr wrap="square" lIns="0" tIns="0" rIns="0" bIns="0" rtlCol="0" anchor="ctr"/>
          <a:lstStyle/>
          <a:p>
            <a:pPr indent="0" marL="0">
              <a:buNone/>
            </a:pPr>
            <a:r>
              <a:rPr lang="en-US" sz="1100" b="1" dirty="0">
                <a:solidFill>
                  <a:srgbClr val="1A8FBF"/>
                </a:solidFill>
                <a:latin typeface="Calibri" pitchFamily="34" charset="0"/>
                <a:ea typeface="Calibri" pitchFamily="34" charset="-122"/>
                <a:cs typeface="Calibri" pitchFamily="34" charset="-120"/>
              </a:rPr>
              <a:t>API Layer</a:t>
            </a:r>
            <a:endParaRPr lang="en-US" sz="1100" dirty="0"/>
          </a:p>
        </p:txBody>
      </p:sp>
      <p:sp>
        <p:nvSpPr>
          <p:cNvPr id="10" name="Text 8"/>
          <p:cNvSpPr/>
          <p:nvPr/>
        </p:nvSpPr>
        <p:spPr>
          <a:xfrm>
            <a:off x="640080" y="2221992"/>
            <a:ext cx="457200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FastAPI (Python) — RESTful endpoints</a:t>
            </a:r>
            <a:endParaRPr lang="en-US" sz="1100" dirty="0"/>
          </a:p>
        </p:txBody>
      </p:sp>
      <p:sp>
        <p:nvSpPr>
          <p:cNvPr id="11" name="Shape 9"/>
          <p:cNvSpPr/>
          <p:nvPr/>
        </p:nvSpPr>
        <p:spPr>
          <a:xfrm>
            <a:off x="2743200" y="2578608"/>
            <a:ext cx="0" cy="237744"/>
          </a:xfrm>
          <a:prstGeom prst="line">
            <a:avLst/>
          </a:prstGeom>
          <a:noFill/>
          <a:ln w="19050">
            <a:solidFill>
              <a:srgbClr val="1A8FBF"/>
            </a:solidFill>
            <a:prstDash val="solid"/>
          </a:ln>
        </p:spPr>
      </p:sp>
      <p:sp>
        <p:nvSpPr>
          <p:cNvPr id="12" name="Shape 10"/>
          <p:cNvSpPr/>
          <p:nvPr/>
        </p:nvSpPr>
        <p:spPr>
          <a:xfrm>
            <a:off x="457200" y="2697480"/>
            <a:ext cx="4937760" cy="658368"/>
          </a:xfrm>
          <a:prstGeom prst="roundRect">
            <a:avLst>
              <a:gd name="adj" fmla="val 13889"/>
            </a:avLst>
          </a:prstGeom>
          <a:solidFill>
            <a:srgbClr val="0D1B2A"/>
          </a:solidFill>
          <a:ln w="6350">
            <a:solidFill>
              <a:srgbClr val="1A8FBF"/>
            </a:solidFill>
            <a:prstDash val="solid"/>
          </a:ln>
        </p:spPr>
      </p:sp>
      <p:sp>
        <p:nvSpPr>
          <p:cNvPr id="13" name="Text 11"/>
          <p:cNvSpPr/>
          <p:nvPr/>
        </p:nvSpPr>
        <p:spPr>
          <a:xfrm>
            <a:off x="640080" y="2752344"/>
            <a:ext cx="1371600" cy="256032"/>
          </a:xfrm>
          <a:prstGeom prst="rect">
            <a:avLst/>
          </a:prstGeom>
          <a:noFill/>
          <a:ln/>
        </p:spPr>
        <p:txBody>
          <a:bodyPr wrap="square" lIns="0" tIns="0" rIns="0" bIns="0" rtlCol="0" anchor="ctr"/>
          <a:lstStyle/>
          <a:p>
            <a:pPr indent="0" marL="0">
              <a:buNone/>
            </a:pPr>
            <a:r>
              <a:rPr lang="en-US" sz="1100" b="1" dirty="0">
                <a:solidFill>
                  <a:srgbClr val="1A8FBF"/>
                </a:solidFill>
                <a:latin typeface="Calibri" pitchFamily="34" charset="0"/>
                <a:ea typeface="Calibri" pitchFamily="34" charset="-122"/>
                <a:cs typeface="Calibri" pitchFamily="34" charset="-120"/>
              </a:rPr>
              <a:t>AI Engine</a:t>
            </a:r>
            <a:endParaRPr lang="en-US" sz="1100" dirty="0"/>
          </a:p>
        </p:txBody>
      </p:sp>
      <p:sp>
        <p:nvSpPr>
          <p:cNvPr id="14" name="Text 12"/>
          <p:cNvSpPr/>
          <p:nvPr/>
        </p:nvSpPr>
        <p:spPr>
          <a:xfrm>
            <a:off x="640080" y="2999232"/>
            <a:ext cx="457200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Gemini 2.5 Flash — grading, vision, feedback</a:t>
            </a:r>
            <a:endParaRPr lang="en-US" sz="1100" dirty="0"/>
          </a:p>
        </p:txBody>
      </p:sp>
      <p:sp>
        <p:nvSpPr>
          <p:cNvPr id="15" name="Shape 13"/>
          <p:cNvSpPr/>
          <p:nvPr/>
        </p:nvSpPr>
        <p:spPr>
          <a:xfrm>
            <a:off x="2743200" y="3355848"/>
            <a:ext cx="0" cy="237744"/>
          </a:xfrm>
          <a:prstGeom prst="line">
            <a:avLst/>
          </a:prstGeom>
          <a:noFill/>
          <a:ln w="19050">
            <a:solidFill>
              <a:srgbClr val="1A8FBF"/>
            </a:solidFill>
            <a:prstDash val="solid"/>
          </a:ln>
        </p:spPr>
      </p:sp>
      <p:sp>
        <p:nvSpPr>
          <p:cNvPr id="16" name="Shape 14"/>
          <p:cNvSpPr/>
          <p:nvPr/>
        </p:nvSpPr>
        <p:spPr>
          <a:xfrm>
            <a:off x="457200" y="3474720"/>
            <a:ext cx="4937760" cy="658368"/>
          </a:xfrm>
          <a:prstGeom prst="roundRect">
            <a:avLst>
              <a:gd name="adj" fmla="val 13889"/>
            </a:avLst>
          </a:prstGeom>
          <a:solidFill>
            <a:srgbClr val="1B3A5C"/>
          </a:solidFill>
          <a:ln w="6350">
            <a:solidFill>
              <a:srgbClr val="1A8FBF"/>
            </a:solidFill>
            <a:prstDash val="solid"/>
          </a:ln>
        </p:spPr>
      </p:sp>
      <p:sp>
        <p:nvSpPr>
          <p:cNvPr id="17" name="Text 15"/>
          <p:cNvSpPr/>
          <p:nvPr/>
        </p:nvSpPr>
        <p:spPr>
          <a:xfrm>
            <a:off x="640080" y="3529584"/>
            <a:ext cx="1371600" cy="256032"/>
          </a:xfrm>
          <a:prstGeom prst="rect">
            <a:avLst/>
          </a:prstGeom>
          <a:noFill/>
          <a:ln/>
        </p:spPr>
        <p:txBody>
          <a:bodyPr wrap="square" lIns="0" tIns="0" rIns="0" bIns="0" rtlCol="0" anchor="ctr"/>
          <a:lstStyle/>
          <a:p>
            <a:pPr indent="0" marL="0">
              <a:buNone/>
            </a:pPr>
            <a:r>
              <a:rPr lang="en-US" sz="1100" b="1" dirty="0">
                <a:solidFill>
                  <a:srgbClr val="1A8FBF"/>
                </a:solidFill>
                <a:latin typeface="Calibri" pitchFamily="34" charset="0"/>
                <a:ea typeface="Calibri" pitchFamily="34" charset="-122"/>
                <a:cs typeface="Calibri" pitchFamily="34" charset="-120"/>
              </a:rPr>
              <a:t>Database</a:t>
            </a:r>
            <a:endParaRPr lang="en-US" sz="1100" dirty="0"/>
          </a:p>
        </p:txBody>
      </p:sp>
      <p:sp>
        <p:nvSpPr>
          <p:cNvPr id="18" name="Text 16"/>
          <p:cNvSpPr/>
          <p:nvPr/>
        </p:nvSpPr>
        <p:spPr>
          <a:xfrm>
            <a:off x="640080" y="3776472"/>
            <a:ext cx="457200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Supabase PostgreSQL — users, sessions, analytics</a:t>
            </a:r>
            <a:endParaRPr lang="en-US" sz="1100" dirty="0"/>
          </a:p>
        </p:txBody>
      </p:sp>
      <p:sp>
        <p:nvSpPr>
          <p:cNvPr id="19" name="Shape 17"/>
          <p:cNvSpPr/>
          <p:nvPr/>
        </p:nvSpPr>
        <p:spPr>
          <a:xfrm>
            <a:off x="5669280" y="1143000"/>
            <a:ext cx="3200400" cy="2990088"/>
          </a:xfrm>
          <a:prstGeom prst="roundRect">
            <a:avLst>
              <a:gd name="adj" fmla="val 3670"/>
            </a:avLst>
          </a:prstGeom>
          <a:solidFill>
            <a:srgbClr val="E8F4FA"/>
          </a:solidFill>
          <a:ln w="12700">
            <a:solidFill>
              <a:srgbClr val="E8F4FA"/>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5852160" y="1234440"/>
            <a:ext cx="2834640" cy="292608"/>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Role-Based Access</a:t>
            </a:r>
            <a:endParaRPr lang="en-US" sz="1200" dirty="0"/>
          </a:p>
        </p:txBody>
      </p:sp>
      <p:sp>
        <p:nvSpPr>
          <p:cNvPr id="21" name="Shape 19"/>
          <p:cNvSpPr/>
          <p:nvPr/>
        </p:nvSpPr>
        <p:spPr>
          <a:xfrm>
            <a:off x="5806440" y="1627632"/>
            <a:ext cx="2880360" cy="658368"/>
          </a:xfrm>
          <a:prstGeom prst="roundRect">
            <a:avLst>
              <a:gd name="adj" fmla="val 1111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943600" y="1682496"/>
            <a:ext cx="256032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Student</a:t>
            </a:r>
            <a:endParaRPr lang="en-US" sz="1100" dirty="0"/>
          </a:p>
        </p:txBody>
      </p:sp>
      <p:sp>
        <p:nvSpPr>
          <p:cNvPr id="23" name="Text 21"/>
          <p:cNvSpPr/>
          <p:nvPr/>
        </p:nvSpPr>
        <p:spPr>
          <a:xfrm>
            <a:off x="5943600" y="1920240"/>
            <a:ext cx="2651760" cy="256032"/>
          </a:xfrm>
          <a:prstGeom prst="rect">
            <a:avLst/>
          </a:prstGeom>
          <a:noFill/>
          <a:ln/>
        </p:spPr>
        <p:txBody>
          <a:bodyPr wrap="square" lIns="0" tIns="0" rIns="0" bIns="0" rtlCol="0" anchor="ctr"/>
          <a:lstStyle/>
          <a:p>
            <a:pPr indent="0" marL="0">
              <a:buNone/>
            </a:pPr>
            <a:r>
              <a:rPr lang="en-US" sz="950" dirty="0">
                <a:solidFill>
                  <a:srgbClr val="3B6580"/>
                </a:solidFill>
                <a:latin typeface="Calibri" pitchFamily="34" charset="0"/>
                <a:ea typeface="Calibri" pitchFamily="34" charset="-122"/>
                <a:cs typeface="Calibri" pitchFamily="34" charset="-120"/>
              </a:rPr>
              <a:t>Practice · Analytics · Weak topics · Reports</a:t>
            </a:r>
            <a:endParaRPr lang="en-US" sz="950" dirty="0"/>
          </a:p>
        </p:txBody>
      </p:sp>
      <p:sp>
        <p:nvSpPr>
          <p:cNvPr id="24" name="Shape 22"/>
          <p:cNvSpPr/>
          <p:nvPr/>
        </p:nvSpPr>
        <p:spPr>
          <a:xfrm>
            <a:off x="5806440" y="2432304"/>
            <a:ext cx="2880360" cy="658368"/>
          </a:xfrm>
          <a:prstGeom prst="roundRect">
            <a:avLst>
              <a:gd name="adj" fmla="val 1111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5" name="Text 23"/>
          <p:cNvSpPr/>
          <p:nvPr/>
        </p:nvSpPr>
        <p:spPr>
          <a:xfrm>
            <a:off x="5943600" y="2487168"/>
            <a:ext cx="256032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Teacher</a:t>
            </a:r>
            <a:endParaRPr lang="en-US" sz="1100" dirty="0"/>
          </a:p>
        </p:txBody>
      </p:sp>
      <p:sp>
        <p:nvSpPr>
          <p:cNvPr id="26" name="Text 24"/>
          <p:cNvSpPr/>
          <p:nvPr/>
        </p:nvSpPr>
        <p:spPr>
          <a:xfrm>
            <a:off x="5943600" y="2724912"/>
            <a:ext cx="2651760" cy="256032"/>
          </a:xfrm>
          <a:prstGeom prst="rect">
            <a:avLst/>
          </a:prstGeom>
          <a:noFill/>
          <a:ln/>
        </p:spPr>
        <p:txBody>
          <a:bodyPr wrap="square" lIns="0" tIns="0" rIns="0" bIns="0" rtlCol="0" anchor="ctr"/>
          <a:lstStyle/>
          <a:p>
            <a:pPr indent="0" marL="0">
              <a:buNone/>
            </a:pPr>
            <a:r>
              <a:rPr lang="en-US" sz="950" dirty="0">
                <a:solidFill>
                  <a:srgbClr val="3B6580"/>
                </a:solidFill>
                <a:latin typeface="Calibri" pitchFamily="34" charset="0"/>
                <a:ea typeface="Calibri" pitchFamily="34" charset="-122"/>
                <a:cs typeface="Calibri" pitchFamily="34" charset="-120"/>
              </a:rPr>
              <a:t>Student monitoring · Performance · Report generation</a:t>
            </a:r>
            <a:endParaRPr lang="en-US" sz="950" dirty="0"/>
          </a:p>
        </p:txBody>
      </p:sp>
      <p:sp>
        <p:nvSpPr>
          <p:cNvPr id="27" name="Shape 25"/>
          <p:cNvSpPr/>
          <p:nvPr/>
        </p:nvSpPr>
        <p:spPr>
          <a:xfrm>
            <a:off x="5806440" y="3236976"/>
            <a:ext cx="2880360" cy="658368"/>
          </a:xfrm>
          <a:prstGeom prst="roundRect">
            <a:avLst>
              <a:gd name="adj" fmla="val 11111"/>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8" name="Text 26"/>
          <p:cNvSpPr/>
          <p:nvPr/>
        </p:nvSpPr>
        <p:spPr>
          <a:xfrm>
            <a:off x="5943600" y="3291840"/>
            <a:ext cx="2560320" cy="219456"/>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Parent</a:t>
            </a:r>
            <a:endParaRPr lang="en-US" sz="1100" dirty="0"/>
          </a:p>
        </p:txBody>
      </p:sp>
      <p:sp>
        <p:nvSpPr>
          <p:cNvPr id="29" name="Text 27"/>
          <p:cNvSpPr/>
          <p:nvPr/>
        </p:nvSpPr>
        <p:spPr>
          <a:xfrm>
            <a:off x="5943600" y="3529584"/>
            <a:ext cx="2651760" cy="256032"/>
          </a:xfrm>
          <a:prstGeom prst="rect">
            <a:avLst/>
          </a:prstGeom>
          <a:noFill/>
          <a:ln/>
        </p:spPr>
        <p:txBody>
          <a:bodyPr wrap="square" lIns="0" tIns="0" rIns="0" bIns="0" rtlCol="0" anchor="ctr"/>
          <a:lstStyle/>
          <a:p>
            <a:pPr indent="0" marL="0">
              <a:buNone/>
            </a:pPr>
            <a:r>
              <a:rPr lang="en-US" sz="950" dirty="0">
                <a:solidFill>
                  <a:srgbClr val="3B6580"/>
                </a:solidFill>
                <a:latin typeface="Calibri" pitchFamily="34" charset="0"/>
                <a:ea typeface="Calibri" pitchFamily="34" charset="-122"/>
                <a:cs typeface="Calibri" pitchFamily="34" charset="-120"/>
              </a:rPr>
              <a:t>Child progress tracking · Reports</a:t>
            </a:r>
            <a:endParaRPr lang="en-US" sz="950" dirty="0"/>
          </a:p>
        </p:txBody>
      </p:sp>
      <p:sp>
        <p:nvSpPr>
          <p:cNvPr id="30" name="Text 28"/>
          <p:cNvSpPr/>
          <p:nvPr/>
        </p:nvSpPr>
        <p:spPr>
          <a:xfrm>
            <a:off x="8229600" y="4754880"/>
            <a:ext cx="640080" cy="228600"/>
          </a:xfrm>
          <a:prstGeom prst="rect">
            <a:avLst/>
          </a:prstGeom>
          <a:noFill/>
          <a:ln/>
        </p:spPr>
        <p:txBody>
          <a:bodyPr wrap="square" lIns="0" tIns="0" rIns="0" bIns="0" rtlCol="0" anchor="ctr"/>
          <a:lstStyle/>
          <a:p>
            <a:pPr algn="r" indent="0" marL="0">
              <a:buNone/>
            </a:pPr>
            <a:r>
              <a:rPr lang="en-US" sz="900" dirty="0">
                <a:solidFill>
                  <a:srgbClr val="90A4B7"/>
                </a:solidFill>
              </a:rPr>
              <a:t>2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algn="l" indent="0" marL="0">
              <a:buNone/>
            </a:pPr>
            <a:r>
              <a:rPr lang="en-US" sz="900" b="1" spc="300" kern="0" dirty="0">
                <a:solidFill>
                  <a:srgbClr val="1A8FBF"/>
                </a:solidFill>
              </a:rPr>
              <a:t>CORE FEATURES IMPLEMENTED</a:t>
            </a:r>
            <a:endParaRPr lang="en-US" sz="900" dirty="0"/>
          </a:p>
        </p:txBody>
      </p:sp>
      <p:sp>
        <p:nvSpPr>
          <p:cNvPr id="3" name="Text 1"/>
          <p:cNvSpPr/>
          <p:nvPr/>
        </p:nvSpPr>
        <p:spPr>
          <a:xfrm>
            <a:off x="457200" y="548640"/>
            <a:ext cx="822960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Question Bank, Grading Engine &amp; Input Modes</a:t>
            </a:r>
            <a:endParaRPr lang="en-US" sz="2200" dirty="0"/>
          </a:p>
        </p:txBody>
      </p:sp>
      <p:sp>
        <p:nvSpPr>
          <p:cNvPr id="4" name="Shape 2"/>
          <p:cNvSpPr/>
          <p:nvPr/>
        </p:nvSpPr>
        <p:spPr>
          <a:xfrm>
            <a:off x="365760" y="1078992"/>
            <a:ext cx="2743200" cy="3794760"/>
          </a:xfrm>
          <a:prstGeom prst="roundRect">
            <a:avLst>
              <a:gd name="adj" fmla="val 4000"/>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365760" y="1078992"/>
            <a:ext cx="2743200" cy="384048"/>
          </a:xfrm>
          <a:prstGeom prst="roundRect">
            <a:avLst>
              <a:gd name="adj" fmla="val 23810"/>
            </a:avLst>
          </a:prstGeom>
          <a:solidFill>
            <a:srgbClr val="1A8FBF"/>
          </a:solidFill>
          <a:ln w="12700">
            <a:solidFill>
              <a:srgbClr val="1A8FBF"/>
            </a:solidFill>
            <a:prstDash val="solid"/>
          </a:ln>
        </p:spPr>
      </p:sp>
      <p:sp>
        <p:nvSpPr>
          <p:cNvPr id="6" name="Text 4"/>
          <p:cNvSpPr/>
          <p:nvPr/>
        </p:nvSpPr>
        <p:spPr>
          <a:xfrm>
            <a:off x="475488" y="1115568"/>
            <a:ext cx="252374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Question Bank</a:t>
            </a:r>
            <a:endParaRPr lang="en-US" sz="1200" dirty="0"/>
          </a:p>
        </p:txBody>
      </p:sp>
      <p:sp>
        <p:nvSpPr>
          <p:cNvPr id="7" name="Text 5"/>
          <p:cNvSpPr/>
          <p:nvPr/>
        </p:nvSpPr>
        <p:spPr>
          <a:xfrm>
            <a:off x="475488" y="1554480"/>
            <a:ext cx="2523744" cy="32004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40 curated Class 10 questions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Focus: Quadratic Equations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Covers: Factorization, Quadratic Formula, Completing the Square, Nature of Roots, Word Problems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Each question carries rubric, ideal solution, step grading criteria, and marks allocation</a:t>
            </a:r>
            <a:endParaRPr lang="en-US" sz="1100" dirty="0"/>
          </a:p>
        </p:txBody>
      </p:sp>
      <p:sp>
        <p:nvSpPr>
          <p:cNvPr id="8" name="Shape 6"/>
          <p:cNvSpPr/>
          <p:nvPr/>
        </p:nvSpPr>
        <p:spPr>
          <a:xfrm>
            <a:off x="3291840" y="1078992"/>
            <a:ext cx="2743200" cy="3794760"/>
          </a:xfrm>
          <a:prstGeom prst="roundRect">
            <a:avLst>
              <a:gd name="adj" fmla="val 4000"/>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3291840" y="1078992"/>
            <a:ext cx="2743200" cy="384048"/>
          </a:xfrm>
          <a:prstGeom prst="roundRect">
            <a:avLst>
              <a:gd name="adj" fmla="val 23810"/>
            </a:avLst>
          </a:prstGeom>
          <a:solidFill>
            <a:srgbClr val="1A8FBF"/>
          </a:solidFill>
          <a:ln w="12700">
            <a:solidFill>
              <a:srgbClr val="1A8FBF"/>
            </a:solidFill>
            <a:prstDash val="solid"/>
          </a:ln>
        </p:spPr>
      </p:sp>
      <p:sp>
        <p:nvSpPr>
          <p:cNvPr id="10" name="Text 8"/>
          <p:cNvSpPr/>
          <p:nvPr/>
        </p:nvSpPr>
        <p:spPr>
          <a:xfrm>
            <a:off x="3401568" y="1115568"/>
            <a:ext cx="252374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AI Grading Engine</a:t>
            </a:r>
            <a:endParaRPr lang="en-US" sz="1200" dirty="0"/>
          </a:p>
        </p:txBody>
      </p:sp>
      <p:sp>
        <p:nvSpPr>
          <p:cNvPr id="11" name="Text 9"/>
          <p:cNvSpPr/>
          <p:nvPr/>
        </p:nvSpPr>
        <p:spPr>
          <a:xfrm>
            <a:off x="3401568" y="1554480"/>
            <a:ext cx="2523744" cy="32004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Gemini 2.5 Flash evaluates against rubrics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Supports partial marking</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Step-wise feedback at each stage</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Error identification with specific improvement suggestions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Consistent, reproducible scoring across all submissions</a:t>
            </a:r>
            <a:endParaRPr lang="en-US" sz="1100" dirty="0"/>
          </a:p>
        </p:txBody>
      </p:sp>
      <p:sp>
        <p:nvSpPr>
          <p:cNvPr id="12" name="Shape 10"/>
          <p:cNvSpPr/>
          <p:nvPr/>
        </p:nvSpPr>
        <p:spPr>
          <a:xfrm>
            <a:off x="6217920" y="1078992"/>
            <a:ext cx="2743200" cy="3794760"/>
          </a:xfrm>
          <a:prstGeom prst="roundRect">
            <a:avLst>
              <a:gd name="adj" fmla="val 4000"/>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6217920" y="1078992"/>
            <a:ext cx="2743200" cy="384048"/>
          </a:xfrm>
          <a:prstGeom prst="roundRect">
            <a:avLst>
              <a:gd name="adj" fmla="val 23810"/>
            </a:avLst>
          </a:prstGeom>
          <a:solidFill>
            <a:srgbClr val="1A8FBF"/>
          </a:solidFill>
          <a:ln w="12700">
            <a:solidFill>
              <a:srgbClr val="1A8FBF"/>
            </a:solidFill>
            <a:prstDash val="solid"/>
          </a:ln>
        </p:spPr>
      </p:sp>
      <p:sp>
        <p:nvSpPr>
          <p:cNvPr id="14" name="Text 12"/>
          <p:cNvSpPr/>
          <p:nvPr/>
        </p:nvSpPr>
        <p:spPr>
          <a:xfrm>
            <a:off x="6327648" y="1115568"/>
            <a:ext cx="252374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Input Modes</a:t>
            </a:r>
            <a:endParaRPr lang="en-US" sz="1200" dirty="0"/>
          </a:p>
        </p:txBody>
      </p:sp>
      <p:sp>
        <p:nvSpPr>
          <p:cNvPr id="15" name="Text 13"/>
          <p:cNvSpPr/>
          <p:nvPr/>
        </p:nvSpPr>
        <p:spPr>
          <a:xfrm>
            <a:off x="6327648" y="1554480"/>
            <a:ext cx="2523744" cy="32004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Typed answers — fully implemented and validated</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Handwritten image — Gemini Vision extracts and grades; partial marking supported</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Voice input — speech-to-text pipeline integrated; accuracy for mathematical dictation requires further testing</a:t>
            </a:r>
            <a:endParaRPr lang="en-US" sz="1100" dirty="0"/>
          </a:p>
        </p:txBody>
      </p:sp>
      <p:sp>
        <p:nvSpPr>
          <p:cNvPr id="16" name="Text 14"/>
          <p:cNvSpPr/>
          <p:nvPr/>
        </p:nvSpPr>
        <p:spPr>
          <a:xfrm>
            <a:off x="8229600" y="4754880"/>
            <a:ext cx="640080" cy="228600"/>
          </a:xfrm>
          <a:prstGeom prst="rect">
            <a:avLst/>
          </a:prstGeom>
          <a:noFill/>
          <a:ln/>
        </p:spPr>
        <p:txBody>
          <a:bodyPr wrap="square" lIns="0" tIns="0" rIns="0" bIns="0" rtlCol="0" anchor="ctr"/>
          <a:lstStyle/>
          <a:p>
            <a:pPr algn="r" indent="0" marL="0">
              <a:buNone/>
            </a:pPr>
            <a:r>
              <a:rPr lang="en-US" sz="900" dirty="0">
                <a:solidFill>
                  <a:srgbClr val="90A4B7"/>
                </a:solidFill>
              </a:rPr>
              <a:t>3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A"/>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algn="l" indent="0" marL="0">
              <a:buNone/>
            </a:pPr>
            <a:r>
              <a:rPr lang="en-US" sz="900" b="1" spc="300" kern="0" dirty="0">
                <a:solidFill>
                  <a:srgbClr val="1A8FBF"/>
                </a:solidFill>
              </a:rPr>
              <a:t>RESULTS, ACHIEVEMENTS &amp; CURRENT LIMITATIONS</a:t>
            </a:r>
            <a:endParaRPr lang="en-US" sz="900" dirty="0"/>
          </a:p>
        </p:txBody>
      </p:sp>
      <p:sp>
        <p:nvSpPr>
          <p:cNvPr id="3" name="Text 1"/>
          <p:cNvSpPr/>
          <p:nvPr/>
        </p:nvSpPr>
        <p:spPr>
          <a:xfrm>
            <a:off x="457200" y="548640"/>
            <a:ext cx="8229600" cy="384048"/>
          </a:xfrm>
          <a:prstGeom prst="rect">
            <a:avLst/>
          </a:prstGeom>
          <a:noFill/>
          <a:ln/>
        </p:spPr>
        <p:txBody>
          <a:bodyPr wrap="square" lIns="0" tIns="0" rIns="0" bIns="0" rtlCol="0" anchor="ctr"/>
          <a:lstStyle/>
          <a:p>
            <a:pPr algn="l" indent="0" marL="0">
              <a:buNone/>
            </a:pPr>
            <a:r>
              <a:rPr lang="en-US" sz="2200" b="1" dirty="0">
                <a:solidFill>
                  <a:srgbClr val="0D1B2A"/>
                </a:solidFill>
                <a:latin typeface="Cambria" pitchFamily="34" charset="0"/>
                <a:ea typeface="Cambria" pitchFamily="34" charset="-122"/>
                <a:cs typeface="Cambria" pitchFamily="34" charset="-120"/>
              </a:rPr>
              <a:t>What Was Delivered and Where Gaps Remain</a:t>
            </a:r>
            <a:endParaRPr lang="en-US" sz="2200" dirty="0"/>
          </a:p>
        </p:txBody>
      </p:sp>
      <p:sp>
        <p:nvSpPr>
          <p:cNvPr id="4" name="Shape 2"/>
          <p:cNvSpPr/>
          <p:nvPr/>
        </p:nvSpPr>
        <p:spPr>
          <a:xfrm>
            <a:off x="365760" y="1097280"/>
            <a:ext cx="24231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93776" y="1179576"/>
            <a:ext cx="2176272"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AI Step-wise Grading</a:t>
            </a:r>
            <a:endParaRPr lang="en-US" sz="1100" dirty="0"/>
          </a:p>
        </p:txBody>
      </p:sp>
      <p:sp>
        <p:nvSpPr>
          <p:cNvPr id="6" name="Text 4"/>
          <p:cNvSpPr/>
          <p:nvPr/>
        </p:nvSpPr>
        <p:spPr>
          <a:xfrm>
            <a:off x="493776" y="1463040"/>
            <a:ext cx="2176272" cy="475488"/>
          </a:xfrm>
          <a:prstGeom prst="rect">
            <a:avLst/>
          </a:prstGeom>
          <a:noFill/>
          <a:ln/>
        </p:spPr>
        <p:txBody>
          <a:bodyPr wrap="square" lIns="0" tIns="0" rIns="0" bIns="0" rtlCol="0" anchor="t"/>
          <a:lstStyle/>
          <a:p>
            <a:pPr indent="0" marL="0">
              <a:buNone/>
            </a:pPr>
            <a:r>
              <a:rPr lang="en-US" sz="1000" dirty="0">
                <a:solidFill>
                  <a:srgbClr val="3B6580"/>
                </a:solidFill>
                <a:latin typeface="Calibri" pitchFamily="34" charset="0"/>
                <a:ea typeface="Calibri" pitchFamily="34" charset="-122"/>
                <a:cs typeface="Calibri" pitchFamily="34" charset="-120"/>
              </a:rPr>
              <a:t>Rubric-driven, stage-by-stage evaluation via Gemini</a:t>
            </a:r>
            <a:endParaRPr lang="en-US" sz="1000" dirty="0"/>
          </a:p>
        </p:txBody>
      </p:sp>
      <p:sp>
        <p:nvSpPr>
          <p:cNvPr id="7" name="Shape 5"/>
          <p:cNvSpPr/>
          <p:nvPr/>
        </p:nvSpPr>
        <p:spPr>
          <a:xfrm>
            <a:off x="2971800" y="1097280"/>
            <a:ext cx="24231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099816" y="1179576"/>
            <a:ext cx="2176272"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Partial Marks Support</a:t>
            </a:r>
            <a:endParaRPr lang="en-US" sz="1100" dirty="0"/>
          </a:p>
        </p:txBody>
      </p:sp>
      <p:sp>
        <p:nvSpPr>
          <p:cNvPr id="9" name="Text 7"/>
          <p:cNvSpPr/>
          <p:nvPr/>
        </p:nvSpPr>
        <p:spPr>
          <a:xfrm>
            <a:off x="3099816" y="1463040"/>
            <a:ext cx="2176272" cy="475488"/>
          </a:xfrm>
          <a:prstGeom prst="rect">
            <a:avLst/>
          </a:prstGeom>
          <a:noFill/>
          <a:ln/>
        </p:spPr>
        <p:txBody>
          <a:bodyPr wrap="square" lIns="0" tIns="0" rIns="0" bIns="0" rtlCol="0" anchor="t"/>
          <a:lstStyle/>
          <a:p>
            <a:pPr indent="0" marL="0">
              <a:buNone/>
            </a:pPr>
            <a:r>
              <a:rPr lang="en-US" sz="1000" dirty="0">
                <a:solidFill>
                  <a:srgbClr val="3B6580"/>
                </a:solidFill>
                <a:latin typeface="Calibri" pitchFamily="34" charset="0"/>
                <a:ea typeface="Calibri" pitchFamily="34" charset="-122"/>
                <a:cs typeface="Calibri" pitchFamily="34" charset="-120"/>
              </a:rPr>
              <a:t>Credit awarded for correct intermediate steps</a:t>
            </a:r>
            <a:endParaRPr lang="en-US" sz="1000" dirty="0"/>
          </a:p>
        </p:txBody>
      </p:sp>
      <p:sp>
        <p:nvSpPr>
          <p:cNvPr id="10" name="Shape 8"/>
          <p:cNvSpPr/>
          <p:nvPr/>
        </p:nvSpPr>
        <p:spPr>
          <a:xfrm>
            <a:off x="365760" y="2194560"/>
            <a:ext cx="24231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93776" y="2276856"/>
            <a:ext cx="2176272"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Handwritten Evaluation</a:t>
            </a:r>
            <a:endParaRPr lang="en-US" sz="1100" dirty="0"/>
          </a:p>
        </p:txBody>
      </p:sp>
      <p:sp>
        <p:nvSpPr>
          <p:cNvPr id="12" name="Text 10"/>
          <p:cNvSpPr/>
          <p:nvPr/>
        </p:nvSpPr>
        <p:spPr>
          <a:xfrm>
            <a:off x="493776" y="2560320"/>
            <a:ext cx="2176272" cy="475488"/>
          </a:xfrm>
          <a:prstGeom prst="rect">
            <a:avLst/>
          </a:prstGeom>
          <a:noFill/>
          <a:ln/>
        </p:spPr>
        <p:txBody>
          <a:bodyPr wrap="square" lIns="0" tIns="0" rIns="0" bIns="0" rtlCol="0" anchor="t"/>
          <a:lstStyle/>
          <a:p>
            <a:pPr indent="0" marL="0">
              <a:buNone/>
            </a:pPr>
            <a:r>
              <a:rPr lang="en-US" sz="1000" dirty="0">
                <a:solidFill>
                  <a:srgbClr val="3B6580"/>
                </a:solidFill>
                <a:latin typeface="Calibri" pitchFamily="34" charset="0"/>
                <a:ea typeface="Calibri" pitchFamily="34" charset="-122"/>
                <a:cs typeface="Calibri" pitchFamily="34" charset="-120"/>
              </a:rPr>
              <a:t>Vision-based extraction and grading of uploaded images</a:t>
            </a:r>
            <a:endParaRPr lang="en-US" sz="1000" dirty="0"/>
          </a:p>
        </p:txBody>
      </p:sp>
      <p:sp>
        <p:nvSpPr>
          <p:cNvPr id="13" name="Shape 11"/>
          <p:cNvSpPr/>
          <p:nvPr/>
        </p:nvSpPr>
        <p:spPr>
          <a:xfrm>
            <a:off x="2971800" y="2194560"/>
            <a:ext cx="24231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3099816" y="2276856"/>
            <a:ext cx="2176272"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Weak-Topic Analytics</a:t>
            </a:r>
            <a:endParaRPr lang="en-US" sz="1100" dirty="0"/>
          </a:p>
        </p:txBody>
      </p:sp>
      <p:sp>
        <p:nvSpPr>
          <p:cNvPr id="15" name="Text 13"/>
          <p:cNvSpPr/>
          <p:nvPr/>
        </p:nvSpPr>
        <p:spPr>
          <a:xfrm>
            <a:off x="3099816" y="2560320"/>
            <a:ext cx="2176272" cy="475488"/>
          </a:xfrm>
          <a:prstGeom prst="rect">
            <a:avLst/>
          </a:prstGeom>
          <a:noFill/>
          <a:ln/>
        </p:spPr>
        <p:txBody>
          <a:bodyPr wrap="square" lIns="0" tIns="0" rIns="0" bIns="0" rtlCol="0" anchor="t"/>
          <a:lstStyle/>
          <a:p>
            <a:pPr indent="0" marL="0">
              <a:buNone/>
            </a:pPr>
            <a:r>
              <a:rPr lang="en-US" sz="1000" dirty="0">
                <a:solidFill>
                  <a:srgbClr val="3B6580"/>
                </a:solidFill>
                <a:latin typeface="Calibri" pitchFamily="34" charset="0"/>
                <a:ea typeface="Calibri" pitchFamily="34" charset="-122"/>
                <a:cs typeface="Calibri" pitchFamily="34" charset="-120"/>
              </a:rPr>
              <a:t>Automated identification of consistently poor-performing areas</a:t>
            </a:r>
            <a:endParaRPr lang="en-US" sz="1000" dirty="0"/>
          </a:p>
        </p:txBody>
      </p:sp>
      <p:sp>
        <p:nvSpPr>
          <p:cNvPr id="16" name="Shape 14"/>
          <p:cNvSpPr/>
          <p:nvPr/>
        </p:nvSpPr>
        <p:spPr>
          <a:xfrm>
            <a:off x="365760" y="3291840"/>
            <a:ext cx="24231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493776" y="3374136"/>
            <a:ext cx="2176272"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Role-Based Dashboards</a:t>
            </a:r>
            <a:endParaRPr lang="en-US" sz="1100" dirty="0"/>
          </a:p>
        </p:txBody>
      </p:sp>
      <p:sp>
        <p:nvSpPr>
          <p:cNvPr id="18" name="Text 16"/>
          <p:cNvSpPr/>
          <p:nvPr/>
        </p:nvSpPr>
        <p:spPr>
          <a:xfrm>
            <a:off x="493776" y="3657600"/>
            <a:ext cx="2176272" cy="475488"/>
          </a:xfrm>
          <a:prstGeom prst="rect">
            <a:avLst/>
          </a:prstGeom>
          <a:noFill/>
          <a:ln/>
        </p:spPr>
        <p:txBody>
          <a:bodyPr wrap="square" lIns="0" tIns="0" rIns="0" bIns="0" rtlCol="0" anchor="t"/>
          <a:lstStyle/>
          <a:p>
            <a:pPr indent="0" marL="0">
              <a:buNone/>
            </a:pPr>
            <a:r>
              <a:rPr lang="en-US" sz="1000" dirty="0">
                <a:solidFill>
                  <a:srgbClr val="3B6580"/>
                </a:solidFill>
                <a:latin typeface="Calibri" pitchFamily="34" charset="0"/>
                <a:ea typeface="Calibri" pitchFamily="34" charset="-122"/>
                <a:cs typeface="Calibri" pitchFamily="34" charset="-120"/>
              </a:rPr>
              <a:t>Separate views for Student, Teacher, and Parent</a:t>
            </a:r>
            <a:endParaRPr lang="en-US" sz="1000" dirty="0"/>
          </a:p>
        </p:txBody>
      </p:sp>
      <p:sp>
        <p:nvSpPr>
          <p:cNvPr id="19" name="Shape 17"/>
          <p:cNvSpPr/>
          <p:nvPr/>
        </p:nvSpPr>
        <p:spPr>
          <a:xfrm>
            <a:off x="2971800" y="3291840"/>
            <a:ext cx="24231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3099816" y="3374136"/>
            <a:ext cx="2176272" cy="256032"/>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Multi-Role Reporting</a:t>
            </a:r>
            <a:endParaRPr lang="en-US" sz="1100" dirty="0"/>
          </a:p>
        </p:txBody>
      </p:sp>
      <p:sp>
        <p:nvSpPr>
          <p:cNvPr id="21" name="Text 19"/>
          <p:cNvSpPr/>
          <p:nvPr/>
        </p:nvSpPr>
        <p:spPr>
          <a:xfrm>
            <a:off x="3099816" y="3657600"/>
            <a:ext cx="2176272" cy="475488"/>
          </a:xfrm>
          <a:prstGeom prst="rect">
            <a:avLst/>
          </a:prstGeom>
          <a:noFill/>
          <a:ln/>
        </p:spPr>
        <p:txBody>
          <a:bodyPr wrap="square" lIns="0" tIns="0" rIns="0" bIns="0" rtlCol="0" anchor="t"/>
          <a:lstStyle/>
          <a:p>
            <a:pPr indent="0" marL="0">
              <a:buNone/>
            </a:pPr>
            <a:r>
              <a:rPr lang="en-US" sz="1000" dirty="0">
                <a:solidFill>
                  <a:srgbClr val="3B6580"/>
                </a:solidFill>
                <a:latin typeface="Calibri" pitchFamily="34" charset="0"/>
                <a:ea typeface="Calibri" pitchFamily="34" charset="-122"/>
                <a:cs typeface="Calibri" pitchFamily="34" charset="-120"/>
              </a:rPr>
              <a:t>Distinct performance reports generated per user role</a:t>
            </a:r>
            <a:endParaRPr lang="en-US" sz="1000" dirty="0"/>
          </a:p>
        </p:txBody>
      </p:sp>
      <p:sp>
        <p:nvSpPr>
          <p:cNvPr id="22" name="Shape 20"/>
          <p:cNvSpPr/>
          <p:nvPr/>
        </p:nvSpPr>
        <p:spPr>
          <a:xfrm>
            <a:off x="5577840" y="1097280"/>
            <a:ext cx="3291840" cy="3657600"/>
          </a:xfrm>
          <a:prstGeom prst="roundRect">
            <a:avLst>
              <a:gd name="adj" fmla="val 3333"/>
            </a:avLst>
          </a:prstGeom>
          <a:solidFill>
            <a:srgbClr val="0D1B2A"/>
          </a:solidFill>
          <a:ln w="12700">
            <a:solidFill>
              <a:srgbClr val="0D1B2A"/>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5760720" y="1188720"/>
            <a:ext cx="2926080" cy="310896"/>
          </a:xfrm>
          <a:prstGeom prst="rect">
            <a:avLst/>
          </a:prstGeom>
          <a:noFill/>
          <a:ln/>
        </p:spPr>
        <p:txBody>
          <a:bodyPr wrap="square" lIns="0" tIns="0" rIns="0" bIns="0" rtlCol="0" anchor="ctr"/>
          <a:lstStyle/>
          <a:p>
            <a:pPr indent="0" marL="0">
              <a:buNone/>
            </a:pPr>
            <a:r>
              <a:rPr lang="en-US" sz="1200" b="1" dirty="0">
                <a:solidFill>
                  <a:srgbClr val="1A8FBF"/>
                </a:solidFill>
                <a:latin typeface="Calibri" pitchFamily="34" charset="0"/>
                <a:ea typeface="Calibri" pitchFamily="34" charset="-122"/>
                <a:cs typeface="Calibri" pitchFamily="34" charset="-120"/>
              </a:rPr>
              <a:t>Current Limitations</a:t>
            </a:r>
            <a:endParaRPr lang="en-US" sz="1200" dirty="0"/>
          </a:p>
        </p:txBody>
      </p:sp>
      <p:sp>
        <p:nvSpPr>
          <p:cNvPr id="24" name="Text 22"/>
          <p:cNvSpPr/>
          <p:nvPr/>
        </p:nvSpPr>
        <p:spPr>
          <a:xfrm>
            <a:off x="5760720" y="1600200"/>
            <a:ext cx="2971800" cy="292608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Voice-answer evaluation pipeline requires further testing and optimization for mathematical dictation accuracy.</a:t>
            </a:r>
            <a:endParaRPr lang="en-US" sz="1150" dirty="0"/>
          </a:p>
          <a:p>
            <a:pPr marL="342900" indent="-3429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Scope is presently confined to the Quadratic Equations chapter of Class 10 Mathematics.</a:t>
            </a:r>
            <a:endParaRPr lang="en-US" sz="1150" dirty="0"/>
          </a:p>
          <a:p>
            <a:pPr marL="342900" indent="-342900">
              <a:spcAft>
                <a:spcPts val="1200"/>
              </a:spcAft>
              <a:buSzPct val="100000"/>
              <a:buChar char="•"/>
            </a:pPr>
            <a:r>
              <a:rPr lang="en-US" sz="1150" dirty="0">
                <a:solidFill>
                  <a:srgbClr val="FFFFFF"/>
                </a:solidFill>
                <a:latin typeface="Calibri" pitchFamily="34" charset="0"/>
                <a:ea typeface="Calibri" pitchFamily="34" charset="-122"/>
                <a:cs typeface="Calibri" pitchFamily="34" charset="-120"/>
              </a:rPr>
              <a:t>Question bank is limited to 40 items; expansion to additional chapters is deferred to subsequent versions.</a:t>
            </a:r>
            <a:endParaRPr lang="en-US" sz="1150" dirty="0"/>
          </a:p>
        </p:txBody>
      </p:sp>
      <p:sp>
        <p:nvSpPr>
          <p:cNvPr id="25" name="Text 23"/>
          <p:cNvSpPr/>
          <p:nvPr/>
        </p:nvSpPr>
        <p:spPr>
          <a:xfrm>
            <a:off x="8229600" y="4754880"/>
            <a:ext cx="640080" cy="228600"/>
          </a:xfrm>
          <a:prstGeom prst="rect">
            <a:avLst/>
          </a:prstGeom>
          <a:noFill/>
          <a:ln/>
        </p:spPr>
        <p:txBody>
          <a:bodyPr wrap="square" lIns="0" tIns="0" rIns="0" bIns="0" rtlCol="0" anchor="ctr"/>
          <a:lstStyle/>
          <a:p>
            <a:pPr algn="r" indent="0" marL="0">
              <a:buNone/>
            </a:pPr>
            <a:r>
              <a:rPr lang="en-US" sz="900" dirty="0">
                <a:solidFill>
                  <a:srgbClr val="90A4B7"/>
                </a:solidFill>
              </a:rPr>
              <a:t>4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algn="l" indent="0" marL="0">
              <a:buNone/>
            </a:pPr>
            <a:r>
              <a:rPr lang="en-US" sz="900" b="1" spc="300" kern="0" dirty="0">
                <a:solidFill>
                  <a:srgbClr val="1A8FBF"/>
                </a:solidFill>
              </a:rPr>
              <a:t>FUTURE ENHANCEMENTS &amp; CONCLUSION</a:t>
            </a:r>
            <a:endParaRPr lang="en-US" sz="900" dirty="0"/>
          </a:p>
        </p:txBody>
      </p:sp>
      <p:sp>
        <p:nvSpPr>
          <p:cNvPr id="3" name="Text 1"/>
          <p:cNvSpPr/>
          <p:nvPr/>
        </p:nvSpPr>
        <p:spPr>
          <a:xfrm>
            <a:off x="457200" y="548640"/>
            <a:ext cx="822960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Roadmap and Project Summary</a:t>
            </a:r>
            <a:endParaRPr lang="en-US" sz="2200" dirty="0"/>
          </a:p>
        </p:txBody>
      </p:sp>
      <p:sp>
        <p:nvSpPr>
          <p:cNvPr id="4" name="Shape 2"/>
          <p:cNvSpPr/>
          <p:nvPr/>
        </p:nvSpPr>
        <p:spPr>
          <a:xfrm>
            <a:off x="457200" y="1115568"/>
            <a:ext cx="5212080" cy="777240"/>
          </a:xfrm>
          <a:prstGeom prst="roundRect">
            <a:avLst>
              <a:gd name="adj" fmla="val 11765"/>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94360" y="1207008"/>
            <a:ext cx="502920" cy="548640"/>
          </a:xfrm>
          <a:prstGeom prst="rect">
            <a:avLst/>
          </a:prstGeom>
          <a:noFill/>
          <a:ln/>
        </p:spPr>
        <p:txBody>
          <a:bodyPr wrap="square" lIns="0" tIns="0" rIns="0" bIns="0" rtlCol="0" anchor="ctr"/>
          <a:lstStyle/>
          <a:p>
            <a:pPr indent="0" marL="0">
              <a:buNone/>
            </a:pPr>
            <a:r>
              <a:rPr lang="en-US" sz="2000" b="1" dirty="0">
                <a:solidFill>
                  <a:srgbClr val="1A8FBF"/>
                </a:solidFill>
                <a:latin typeface="Cambria" pitchFamily="34" charset="0"/>
                <a:ea typeface="Cambria" pitchFamily="34" charset="-122"/>
                <a:cs typeface="Cambria" pitchFamily="34" charset="-120"/>
              </a:rPr>
              <a:t>01</a:t>
            </a:r>
            <a:endParaRPr lang="en-US" sz="2000" dirty="0"/>
          </a:p>
        </p:txBody>
      </p:sp>
      <p:sp>
        <p:nvSpPr>
          <p:cNvPr id="6" name="Text 4"/>
          <p:cNvSpPr/>
          <p:nvPr/>
        </p:nvSpPr>
        <p:spPr>
          <a:xfrm>
            <a:off x="1188720" y="1207008"/>
            <a:ext cx="42976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Chapter Expansion</a:t>
            </a:r>
            <a:endParaRPr lang="en-US" sz="1200" dirty="0"/>
          </a:p>
        </p:txBody>
      </p:sp>
      <p:sp>
        <p:nvSpPr>
          <p:cNvPr id="7" name="Text 5"/>
          <p:cNvSpPr/>
          <p:nvPr/>
        </p:nvSpPr>
        <p:spPr>
          <a:xfrm>
            <a:off x="1188720" y="1499616"/>
            <a:ext cx="4297680" cy="292608"/>
          </a:xfrm>
          <a:prstGeom prst="rect">
            <a:avLst/>
          </a:prstGeom>
          <a:noFill/>
          <a:ln/>
        </p:spPr>
        <p:txBody>
          <a:bodyPr wrap="square" lIns="0" tIns="0" rIns="0" bIns="0" rtlCol="0" anchor="ctr"/>
          <a:lstStyle/>
          <a:p>
            <a:pPr indent="0" marL="0">
              <a:buNone/>
            </a:pPr>
            <a:r>
              <a:rPr lang="en-US" sz="1050" dirty="0">
                <a:solidFill>
                  <a:srgbClr val="90A4B7"/>
                </a:solidFill>
                <a:latin typeface="Calibri" pitchFamily="34" charset="0"/>
                <a:ea typeface="Calibri" pitchFamily="34" charset="-122"/>
                <a:cs typeface="Calibri" pitchFamily="34" charset="-120"/>
              </a:rPr>
              <a:t>Extend question bank to cover remaining Class 10 Mathematics chapters.</a:t>
            </a:r>
            <a:endParaRPr lang="en-US" sz="1050" dirty="0"/>
          </a:p>
        </p:txBody>
      </p:sp>
      <p:sp>
        <p:nvSpPr>
          <p:cNvPr id="8" name="Shape 6"/>
          <p:cNvSpPr/>
          <p:nvPr/>
        </p:nvSpPr>
        <p:spPr>
          <a:xfrm>
            <a:off x="457200" y="2029968"/>
            <a:ext cx="5212080" cy="777240"/>
          </a:xfrm>
          <a:prstGeom prst="roundRect">
            <a:avLst>
              <a:gd name="adj" fmla="val 11765"/>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121408"/>
            <a:ext cx="502920" cy="548640"/>
          </a:xfrm>
          <a:prstGeom prst="rect">
            <a:avLst/>
          </a:prstGeom>
          <a:noFill/>
          <a:ln/>
        </p:spPr>
        <p:txBody>
          <a:bodyPr wrap="square" lIns="0" tIns="0" rIns="0" bIns="0" rtlCol="0" anchor="ctr"/>
          <a:lstStyle/>
          <a:p>
            <a:pPr indent="0" marL="0">
              <a:buNone/>
            </a:pPr>
            <a:r>
              <a:rPr lang="en-US" sz="2000" b="1" dirty="0">
                <a:solidFill>
                  <a:srgbClr val="1A8FBF"/>
                </a:solidFill>
                <a:latin typeface="Cambria" pitchFamily="34" charset="0"/>
                <a:ea typeface="Cambria" pitchFamily="34" charset="-122"/>
                <a:cs typeface="Cambria" pitchFamily="34" charset="-120"/>
              </a:rPr>
              <a:t>02</a:t>
            </a:r>
            <a:endParaRPr lang="en-US" sz="2000" dirty="0"/>
          </a:p>
        </p:txBody>
      </p:sp>
      <p:sp>
        <p:nvSpPr>
          <p:cNvPr id="10" name="Text 8"/>
          <p:cNvSpPr/>
          <p:nvPr/>
        </p:nvSpPr>
        <p:spPr>
          <a:xfrm>
            <a:off x="1188720" y="2121408"/>
            <a:ext cx="42976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Voice Recognition</a:t>
            </a:r>
            <a:endParaRPr lang="en-US" sz="1200" dirty="0"/>
          </a:p>
        </p:txBody>
      </p:sp>
      <p:sp>
        <p:nvSpPr>
          <p:cNvPr id="11" name="Text 9"/>
          <p:cNvSpPr/>
          <p:nvPr/>
        </p:nvSpPr>
        <p:spPr>
          <a:xfrm>
            <a:off x="1188720" y="2414016"/>
            <a:ext cx="4297680" cy="292608"/>
          </a:xfrm>
          <a:prstGeom prst="rect">
            <a:avLst/>
          </a:prstGeom>
          <a:noFill/>
          <a:ln/>
        </p:spPr>
        <p:txBody>
          <a:bodyPr wrap="square" lIns="0" tIns="0" rIns="0" bIns="0" rtlCol="0" anchor="ctr"/>
          <a:lstStyle/>
          <a:p>
            <a:pPr indent="0" marL="0">
              <a:buNone/>
            </a:pPr>
            <a:r>
              <a:rPr lang="en-US" sz="1050" dirty="0">
                <a:solidFill>
                  <a:srgbClr val="90A4B7"/>
                </a:solidFill>
                <a:latin typeface="Calibri" pitchFamily="34" charset="0"/>
                <a:ea typeface="Calibri" pitchFamily="34" charset="-122"/>
                <a:cs typeface="Calibri" pitchFamily="34" charset="-120"/>
              </a:rPr>
              <a:t>Improve mathematical speech-to-text accuracy, including notation and symbols.</a:t>
            </a:r>
            <a:endParaRPr lang="en-US" sz="1050" dirty="0"/>
          </a:p>
        </p:txBody>
      </p:sp>
      <p:sp>
        <p:nvSpPr>
          <p:cNvPr id="12" name="Shape 10"/>
          <p:cNvSpPr/>
          <p:nvPr/>
        </p:nvSpPr>
        <p:spPr>
          <a:xfrm>
            <a:off x="457200" y="2944368"/>
            <a:ext cx="5212080" cy="777240"/>
          </a:xfrm>
          <a:prstGeom prst="roundRect">
            <a:avLst>
              <a:gd name="adj" fmla="val 11765"/>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94360" y="3035808"/>
            <a:ext cx="502920" cy="548640"/>
          </a:xfrm>
          <a:prstGeom prst="rect">
            <a:avLst/>
          </a:prstGeom>
          <a:noFill/>
          <a:ln/>
        </p:spPr>
        <p:txBody>
          <a:bodyPr wrap="square" lIns="0" tIns="0" rIns="0" bIns="0" rtlCol="0" anchor="ctr"/>
          <a:lstStyle/>
          <a:p>
            <a:pPr indent="0" marL="0">
              <a:buNone/>
            </a:pPr>
            <a:r>
              <a:rPr lang="en-US" sz="2000" b="1" dirty="0">
                <a:solidFill>
                  <a:srgbClr val="1A8FBF"/>
                </a:solidFill>
                <a:latin typeface="Cambria" pitchFamily="34" charset="0"/>
                <a:ea typeface="Cambria" pitchFamily="34" charset="-122"/>
                <a:cs typeface="Cambria" pitchFamily="34" charset="-120"/>
              </a:rPr>
              <a:t>03</a:t>
            </a:r>
            <a:endParaRPr lang="en-US" sz="2000" dirty="0"/>
          </a:p>
        </p:txBody>
      </p:sp>
      <p:sp>
        <p:nvSpPr>
          <p:cNvPr id="14" name="Text 12"/>
          <p:cNvSpPr/>
          <p:nvPr/>
        </p:nvSpPr>
        <p:spPr>
          <a:xfrm>
            <a:off x="1188720" y="3035808"/>
            <a:ext cx="42976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Adaptive Practice</a:t>
            </a:r>
            <a:endParaRPr lang="en-US" sz="1200" dirty="0"/>
          </a:p>
        </p:txBody>
      </p:sp>
      <p:sp>
        <p:nvSpPr>
          <p:cNvPr id="15" name="Text 13"/>
          <p:cNvSpPr/>
          <p:nvPr/>
        </p:nvSpPr>
        <p:spPr>
          <a:xfrm>
            <a:off x="1188720" y="3328416"/>
            <a:ext cx="4297680" cy="292608"/>
          </a:xfrm>
          <a:prstGeom prst="rect">
            <a:avLst/>
          </a:prstGeom>
          <a:noFill/>
          <a:ln/>
        </p:spPr>
        <p:txBody>
          <a:bodyPr wrap="square" lIns="0" tIns="0" rIns="0" bIns="0" rtlCol="0" anchor="ctr"/>
          <a:lstStyle/>
          <a:p>
            <a:pPr indent="0" marL="0">
              <a:buNone/>
            </a:pPr>
            <a:r>
              <a:rPr lang="en-US" sz="1050" dirty="0">
                <a:solidFill>
                  <a:srgbClr val="90A4B7"/>
                </a:solidFill>
                <a:latin typeface="Calibri" pitchFamily="34" charset="0"/>
                <a:ea typeface="Calibri" pitchFamily="34" charset="-122"/>
                <a:cs typeface="Calibri" pitchFamily="34" charset="-120"/>
              </a:rPr>
              <a:t>Generate personalized practice sets based on identified weak-topic profiles.</a:t>
            </a:r>
            <a:endParaRPr lang="en-US" sz="1050" dirty="0"/>
          </a:p>
        </p:txBody>
      </p:sp>
      <p:sp>
        <p:nvSpPr>
          <p:cNvPr id="16" name="Shape 14"/>
          <p:cNvSpPr/>
          <p:nvPr/>
        </p:nvSpPr>
        <p:spPr>
          <a:xfrm>
            <a:off x="457200" y="3858768"/>
            <a:ext cx="5212080" cy="777240"/>
          </a:xfrm>
          <a:prstGeom prst="roundRect">
            <a:avLst>
              <a:gd name="adj" fmla="val 11765"/>
            </a:avLst>
          </a:prstGeom>
          <a:solidFill>
            <a:srgbClr val="1B3A5C"/>
          </a:solidFill>
          <a:ln w="12700">
            <a:solidFill>
              <a:srgbClr val="1B3A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594360" y="3950208"/>
            <a:ext cx="502920" cy="548640"/>
          </a:xfrm>
          <a:prstGeom prst="rect">
            <a:avLst/>
          </a:prstGeom>
          <a:noFill/>
          <a:ln/>
        </p:spPr>
        <p:txBody>
          <a:bodyPr wrap="square" lIns="0" tIns="0" rIns="0" bIns="0" rtlCol="0" anchor="ctr"/>
          <a:lstStyle/>
          <a:p>
            <a:pPr indent="0" marL="0">
              <a:buNone/>
            </a:pPr>
            <a:r>
              <a:rPr lang="en-US" sz="2000" b="1" dirty="0">
                <a:solidFill>
                  <a:srgbClr val="1A8FBF"/>
                </a:solidFill>
                <a:latin typeface="Cambria" pitchFamily="34" charset="0"/>
                <a:ea typeface="Cambria" pitchFamily="34" charset="-122"/>
                <a:cs typeface="Cambria" pitchFamily="34" charset="-120"/>
              </a:rPr>
              <a:t>04</a:t>
            </a:r>
            <a:endParaRPr lang="en-US" sz="2000" dirty="0"/>
          </a:p>
        </p:txBody>
      </p:sp>
      <p:sp>
        <p:nvSpPr>
          <p:cNvPr id="18" name="Text 16"/>
          <p:cNvSpPr/>
          <p:nvPr/>
        </p:nvSpPr>
        <p:spPr>
          <a:xfrm>
            <a:off x="1188720" y="3950208"/>
            <a:ext cx="42976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Enhanced Analytics</a:t>
            </a:r>
            <a:endParaRPr lang="en-US" sz="1200" dirty="0"/>
          </a:p>
        </p:txBody>
      </p:sp>
      <p:sp>
        <p:nvSpPr>
          <p:cNvPr id="19" name="Text 17"/>
          <p:cNvSpPr/>
          <p:nvPr/>
        </p:nvSpPr>
        <p:spPr>
          <a:xfrm>
            <a:off x="1188720" y="4242816"/>
            <a:ext cx="4297680" cy="292608"/>
          </a:xfrm>
          <a:prstGeom prst="rect">
            <a:avLst/>
          </a:prstGeom>
          <a:noFill/>
          <a:ln/>
        </p:spPr>
        <p:txBody>
          <a:bodyPr wrap="square" lIns="0" tIns="0" rIns="0" bIns="0" rtlCol="0" anchor="ctr"/>
          <a:lstStyle/>
          <a:p>
            <a:pPr indent="0" marL="0">
              <a:buNone/>
            </a:pPr>
            <a:r>
              <a:rPr lang="en-US" sz="1050" dirty="0">
                <a:solidFill>
                  <a:srgbClr val="90A4B7"/>
                </a:solidFill>
                <a:latin typeface="Calibri" pitchFamily="34" charset="0"/>
                <a:ea typeface="Calibri" pitchFamily="34" charset="-122"/>
                <a:cs typeface="Calibri" pitchFamily="34" charset="-120"/>
              </a:rPr>
              <a:t>Deeper learning-trend insights for teachers and longitudinal progress tracking.</a:t>
            </a:r>
            <a:endParaRPr lang="en-US" sz="1050" dirty="0"/>
          </a:p>
        </p:txBody>
      </p:sp>
      <p:sp>
        <p:nvSpPr>
          <p:cNvPr id="20" name="Shape 18"/>
          <p:cNvSpPr/>
          <p:nvPr/>
        </p:nvSpPr>
        <p:spPr>
          <a:xfrm>
            <a:off x="5943600" y="1115568"/>
            <a:ext cx="2880360" cy="3566160"/>
          </a:xfrm>
          <a:prstGeom prst="roundRect">
            <a:avLst>
              <a:gd name="adj" fmla="val 3810"/>
            </a:avLst>
          </a:prstGeom>
          <a:solidFill>
            <a:srgbClr val="1A8FBF"/>
          </a:solidFill>
          <a:ln w="12700">
            <a:solidFill>
              <a:srgbClr val="1A8FBF"/>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6126480" y="1234440"/>
            <a:ext cx="251460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Summary</a:t>
            </a:r>
            <a:endParaRPr lang="en-US" sz="1300" dirty="0"/>
          </a:p>
        </p:txBody>
      </p:sp>
      <p:sp>
        <p:nvSpPr>
          <p:cNvPr id="22" name="Text 20"/>
          <p:cNvSpPr/>
          <p:nvPr/>
        </p:nvSpPr>
        <p:spPr>
          <a:xfrm>
            <a:off x="6126480" y="1645920"/>
            <a:ext cx="2560320" cy="26517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GyanSetu demonstrates a functional, rubric-driven AI assessment pipeline for secondary school mathematics. The system integrates multi-modal input, Gemini-based evaluation, and role-segmented analytics into a single platform. Core objectives have been met; voice accuracy and chapter coverage represent the primary open items for the next development cycle.</a:t>
            </a:r>
            <a:endParaRPr lang="en-US" sz="1100" dirty="0"/>
          </a:p>
        </p:txBody>
      </p:sp>
      <p:sp>
        <p:nvSpPr>
          <p:cNvPr id="23" name="Text 21"/>
          <p:cNvSpPr/>
          <p:nvPr/>
        </p:nvSpPr>
        <p:spPr>
          <a:xfrm>
            <a:off x="8229600" y="4754880"/>
            <a:ext cx="640080" cy="228600"/>
          </a:xfrm>
          <a:prstGeom prst="rect">
            <a:avLst/>
          </a:prstGeom>
          <a:noFill/>
          <a:ln/>
        </p:spPr>
        <p:txBody>
          <a:bodyPr wrap="square" lIns="0" tIns="0" rIns="0" bIns="0" rtlCol="0" anchor="ctr"/>
          <a:lstStyle/>
          <a:p>
            <a:pPr algn="r" indent="0" marL="0">
              <a:buNone/>
            </a:pPr>
            <a:r>
              <a:rPr lang="en-US" sz="900" dirty="0">
                <a:solidFill>
                  <a:srgbClr val="90A4B7"/>
                </a:solidFill>
              </a:rPr>
              <a:t>5 / 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GyanSetu – AI-Powered Mathematics Assessment and Feedback System</dc:title>
  <dc:subject>PptxGenJS Presentation</dc:subject>
  <dc:creator>PptxGenJS</dc:creator>
  <cp:lastModifiedBy>PptxGenJS</cp:lastModifiedBy>
  <cp:revision>1</cp:revision>
  <dcterms:created xsi:type="dcterms:W3CDTF">2026-06-20T12:32:11Z</dcterms:created>
  <dcterms:modified xsi:type="dcterms:W3CDTF">2026-06-20T12:32:11Z</dcterms:modified>
</cp:coreProperties>
</file>